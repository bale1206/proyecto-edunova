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0" roundtripDataSignature="AMtx7mg5iz16+GJMtLYQdyfh7fg/SDRJc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7052DDE-FF4A-40FC-9212-9D060246487B}">
  <a:tblStyle styleId="{47052DDE-FF4A-40FC-9212-9D060246487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BC86FF20-7464-4E74-9AA8-0D5DD40CDB43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customschemas.google.com/relationships/presentationmetadata" Target="meta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6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6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8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8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9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19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0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0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20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20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20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3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3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3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4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4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4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5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6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6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>
    <p:wipe dir="l"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jpg"/><Relationship Id="rId4" Type="http://schemas.openxmlformats.org/officeDocument/2006/relationships/image" Target="../media/image1.png"/><Relationship Id="rId5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jpg"/><Relationship Id="rId4" Type="http://schemas.openxmlformats.org/officeDocument/2006/relationships/image" Target="../media/image7.png"/><Relationship Id="rId5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jpg"/><Relationship Id="rId4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jpg"/><Relationship Id="rId4" Type="http://schemas.openxmlformats.org/officeDocument/2006/relationships/image" Target="../media/image1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jpg"/><Relationship Id="rId4" Type="http://schemas.openxmlformats.org/officeDocument/2006/relationships/image" Target="../media/image8.png"/><Relationship Id="rId5" Type="http://schemas.openxmlformats.org/officeDocument/2006/relationships/image" Target="../media/image3.png"/><Relationship Id="rId6" Type="http://schemas.openxmlformats.org/officeDocument/2006/relationships/image" Target="../media/image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jpg"/><Relationship Id="rId4" Type="http://schemas.openxmlformats.org/officeDocument/2006/relationships/image" Target="../media/image10.png"/><Relationship Id="rId10" Type="http://schemas.openxmlformats.org/officeDocument/2006/relationships/image" Target="../media/image12.png"/><Relationship Id="rId9" Type="http://schemas.openxmlformats.org/officeDocument/2006/relationships/image" Target="../media/image13.png"/><Relationship Id="rId5" Type="http://schemas.openxmlformats.org/officeDocument/2006/relationships/image" Target="../media/image16.png"/><Relationship Id="rId6" Type="http://schemas.openxmlformats.org/officeDocument/2006/relationships/image" Target="../media/image11.png"/><Relationship Id="rId7" Type="http://schemas.openxmlformats.org/officeDocument/2006/relationships/image" Target="../media/image15.png"/><Relationship Id="rId8" Type="http://schemas.openxmlformats.org/officeDocument/2006/relationships/image" Target="../media/image1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jpg"/><Relationship Id="rId4" Type="http://schemas.openxmlformats.org/officeDocument/2006/relationships/hyperlink" Target="https://www.figma.com/proto/9srKUOxDTVw0JiF64xmJyN/EduNova-Project?node-id=0-1&amp;p=f&amp;t=dPQ0oC5T3fPxIIpb-0&amp;scaling=scale-down&amp;content-scaling=fixed&amp;starting-point-node-id=2008%3A62" TargetMode="Externa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84" name="Google Shape;84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24529" y="495097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"/>
          <p:cNvSpPr txBox="1"/>
          <p:nvPr/>
        </p:nvSpPr>
        <p:spPr>
          <a:xfrm>
            <a:off x="1" y="2707792"/>
            <a:ext cx="12192000" cy="11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PROYECTO </a:t>
            </a:r>
            <a:r>
              <a:rPr lang="es-CL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EDUNOVA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PRESENTACIÓN FINAL CAPSTONE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EscuelaIT Duoc UC - Escuela de Informática y Telecomunicaciones Duoc UC - Duoc  UC | LinkedIn" id="86" name="Google Shape;86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7963" y="4463247"/>
            <a:ext cx="4536009" cy="11447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 dir="l"/>
  </p:transition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91" name="Google Shape;91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2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1800" u="none" cap="none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</a:t>
            </a: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EDUNOVA</a:t>
            </a:r>
            <a:r>
              <a:rPr b="0" i="0" lang="es-CL" sz="1800" u="none" cap="none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”</a:t>
            </a:r>
            <a:endParaRPr/>
          </a:p>
        </p:txBody>
      </p:sp>
      <p:sp>
        <p:nvSpPr>
          <p:cNvPr id="93" name="Google Shape;93;p2"/>
          <p:cNvSpPr txBox="1"/>
          <p:nvPr/>
        </p:nvSpPr>
        <p:spPr>
          <a:xfrm>
            <a:off x="4291515" y="738241"/>
            <a:ext cx="36090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INTEGRANTES DEL PROYECTO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4" name="Google Shape;94;p2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"/>
            <a:headEnd len="sm" w="sm" type="none"/>
            <a:tailEnd len="sm" w="sm" type="none"/>
          </a:ln>
        </p:spPr>
      </p:cxnSp>
      <p:graphicFrame>
        <p:nvGraphicFramePr>
          <p:cNvPr id="95" name="Google Shape;95;p2"/>
          <p:cNvGraphicFramePr/>
          <p:nvPr/>
        </p:nvGraphicFramePr>
        <p:xfrm>
          <a:off x="2810600" y="2106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{47052DDE-FF4A-40FC-9212-9D060246487B}</a:tableStyleId>
              </a:tblPr>
              <a:tblGrid>
                <a:gridCol w="2498275"/>
                <a:gridCol w="1448775"/>
                <a:gridCol w="1357500"/>
                <a:gridCol w="1266250"/>
              </a:tblGrid>
              <a:tr h="4256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100"/>
                        <a:t>Funciones/Integrantes</a:t>
                      </a:r>
                      <a:endParaRPr b="1" sz="1100"/>
                    </a:p>
                  </a:txBody>
                  <a:tcPr marT="63500" marB="63500" marR="63500" marL="63500">
                    <a:solidFill>
                      <a:srgbClr val="6EA2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/>
                        <a:t>Bastián Bianchi</a:t>
                      </a:r>
                      <a:endParaRPr sz="1100"/>
                    </a:p>
                  </a:txBody>
                  <a:tcPr marT="63500" marB="63500" marR="63500" marL="63500">
                    <a:solidFill>
                      <a:srgbClr val="C1D2E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/>
                        <a:t>Fabián González</a:t>
                      </a:r>
                      <a:endParaRPr sz="1100"/>
                    </a:p>
                  </a:txBody>
                  <a:tcPr marT="63500" marB="63500" marR="63500" marL="63500">
                    <a:solidFill>
                      <a:srgbClr val="C1D2E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/>
                        <a:t>Valentina Latorre</a:t>
                      </a:r>
                      <a:endParaRPr sz="1100"/>
                    </a:p>
                  </a:txBody>
                  <a:tcPr marT="63500" marB="63500" marR="63500" marL="63500">
                    <a:solidFill>
                      <a:srgbClr val="C1D2EA"/>
                    </a:solidFill>
                  </a:tcPr>
                </a:tc>
              </a:tr>
              <a:tr h="4256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/>
                        <a:t>Redacción de informes</a:t>
                      </a:r>
                      <a:endParaRPr sz="1100"/>
                    </a:p>
                  </a:txBody>
                  <a:tcPr marT="63500" marB="63500" marR="63500" marL="63500">
                    <a:solidFill>
                      <a:srgbClr val="C1D2E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/>
                        <a:t>x</a:t>
                      </a:r>
                      <a:endParaRPr sz="11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/>
                        <a:t>x</a:t>
                      </a:r>
                      <a:endParaRPr sz="11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/>
                        <a:t>x</a:t>
                      </a:r>
                      <a:endParaRPr sz="1100"/>
                    </a:p>
                  </a:txBody>
                  <a:tcPr marT="63500" marB="63500" marR="63500" marL="63500"/>
                </a:tc>
              </a:tr>
              <a:tr h="4256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/>
                        <a:t>Preparación de presentaciones</a:t>
                      </a:r>
                      <a:endParaRPr sz="1100"/>
                    </a:p>
                  </a:txBody>
                  <a:tcPr marT="63500" marB="63500" marR="63500" marL="63500">
                    <a:solidFill>
                      <a:srgbClr val="C1D2E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/>
                        <a:t>x</a:t>
                      </a:r>
                      <a:endParaRPr sz="11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/>
                        <a:t>x</a:t>
                      </a:r>
                      <a:endParaRPr sz="11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/>
                        <a:t>x</a:t>
                      </a:r>
                      <a:endParaRPr sz="1100"/>
                    </a:p>
                  </a:txBody>
                  <a:tcPr marT="63500" marB="63500" marR="63500" marL="63500"/>
                </a:tc>
              </a:tr>
              <a:tr h="4256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/>
                        <a:t>Diseño frontend</a:t>
                      </a:r>
                      <a:endParaRPr sz="1100"/>
                    </a:p>
                  </a:txBody>
                  <a:tcPr marT="63500" marB="63500" marR="63500" marL="63500">
                    <a:solidFill>
                      <a:srgbClr val="C1D2E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/>
                        <a:t>x</a:t>
                      </a:r>
                      <a:endParaRPr sz="1100"/>
                    </a:p>
                  </a:txBody>
                  <a:tcPr marT="63500" marB="63500" marR="63500" marL="63500"/>
                </a:tc>
              </a:tr>
              <a:tr h="4256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/>
                        <a:t>Desarrollo backend</a:t>
                      </a:r>
                      <a:endParaRPr sz="1100"/>
                    </a:p>
                  </a:txBody>
                  <a:tcPr marT="63500" marB="63500" marR="63500" marL="63500">
                    <a:solidFill>
                      <a:srgbClr val="C1D2E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/>
                        <a:t>x</a:t>
                      </a:r>
                      <a:endParaRPr sz="11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/>
                        <a:t>x</a:t>
                      </a:r>
                      <a:endParaRPr sz="11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/>
                        <a:t>x</a:t>
                      </a:r>
                      <a:endParaRPr sz="1100"/>
                    </a:p>
                  </a:txBody>
                  <a:tcPr marT="63500" marB="63500" marR="63500" marL="63500"/>
                </a:tc>
              </a:tr>
              <a:tr h="4256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/>
                        <a:t>Pruebas de certificación</a:t>
                      </a:r>
                      <a:endParaRPr sz="1100"/>
                    </a:p>
                  </a:txBody>
                  <a:tcPr marT="63500" marB="63500" marR="63500" marL="63500">
                    <a:solidFill>
                      <a:srgbClr val="C1D2E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/>
                        <a:t>x</a:t>
                      </a:r>
                      <a:endParaRPr sz="11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/>
                        <a:t>x</a:t>
                      </a:r>
                      <a:endParaRPr sz="1100"/>
                    </a:p>
                  </a:txBody>
                  <a:tcPr marT="63500" marB="63500" marR="63500" marL="63500"/>
                </a:tc>
              </a:tr>
              <a:tr h="4256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/>
                        <a:t>Reunión con cliente</a:t>
                      </a:r>
                      <a:endParaRPr sz="1100"/>
                    </a:p>
                  </a:txBody>
                  <a:tcPr marT="63500" marB="63500" marR="63500" marL="63500">
                    <a:solidFill>
                      <a:srgbClr val="C1D2E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/>
                        <a:t>x</a:t>
                      </a:r>
                      <a:endParaRPr sz="11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/>
                        <a:t>x</a:t>
                      </a:r>
                      <a:endParaRPr sz="11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/>
                        <a:t>x</a:t>
                      </a:r>
                      <a:endParaRPr sz="1100"/>
                    </a:p>
                  </a:txBody>
                  <a:tcPr marT="63500" marB="63500" marR="63500" marL="63500"/>
                </a:tc>
              </a:tr>
              <a:tr h="4256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/>
                        <a:t>Diseño de arquitectura</a:t>
                      </a:r>
                      <a:endParaRPr sz="1100"/>
                    </a:p>
                  </a:txBody>
                  <a:tcPr marT="63500" marB="63500" marR="63500" marL="63500">
                    <a:solidFill>
                      <a:srgbClr val="C1D2E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/>
                        <a:t>x</a:t>
                      </a:r>
                      <a:endParaRPr sz="11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63500" marB="63500" marR="63500" marL="63500"/>
                </a:tc>
              </a:tr>
              <a:tr h="4256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/>
                        <a:t>Diseño casos de uso</a:t>
                      </a:r>
                      <a:endParaRPr sz="1100"/>
                    </a:p>
                  </a:txBody>
                  <a:tcPr marT="63500" marB="63500" marR="63500" marL="63500">
                    <a:solidFill>
                      <a:srgbClr val="C1D2E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/>
                        <a:t>x</a:t>
                      </a:r>
                      <a:endParaRPr sz="11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/>
                        <a:t>x</a:t>
                      </a:r>
                      <a:endParaRPr sz="11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63500" marB="63500" marR="63500" marL="63500"/>
                </a:tc>
              </a:tr>
            </a:tbl>
          </a:graphicData>
        </a:graphic>
      </p:graphicFrame>
    </p:spTree>
  </p:cSld>
  <p:clrMapOvr>
    <a:masterClrMapping/>
  </p:clrMapOvr>
  <p:transition spd="slow">
    <p:wipe dir="l"/>
  </p:transition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00" name="Google Shape;100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3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“EDUNOVA”</a:t>
            </a:r>
            <a:endParaRPr/>
          </a:p>
        </p:txBody>
      </p:sp>
      <p:sp>
        <p:nvSpPr>
          <p:cNvPr id="102" name="Google Shape;102;p3"/>
          <p:cNvSpPr txBox="1"/>
          <p:nvPr/>
        </p:nvSpPr>
        <p:spPr>
          <a:xfrm>
            <a:off x="0" y="1130849"/>
            <a:ext cx="1219199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DESCRIPCIÓN DEL PROYECTO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3" name="Google Shape;103;p3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04" name="Google Shape;104;p3"/>
          <p:cNvSpPr/>
          <p:nvPr/>
        </p:nvSpPr>
        <p:spPr>
          <a:xfrm>
            <a:off x="633950" y="1804276"/>
            <a:ext cx="4427400" cy="4838700"/>
          </a:xfrm>
          <a:prstGeom prst="roundRect">
            <a:avLst>
              <a:gd fmla="val 10901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Problema o dolor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Sobrecarga y límites difusos: Exceso de tareas administrativas y atención a apoderados fuera del horario.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Plataformas poco prácticas: Los sistemas actuales resultan demasiado complejos y pesados para realizar un monitoreo diario, rápido y sencillo.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Ausencia de herramientas integradas que permitan gestionar el comportamiento, la convivencia y el bienestar psicológico de los estudiantes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3"/>
          <p:cNvSpPr/>
          <p:nvPr/>
        </p:nvSpPr>
        <p:spPr>
          <a:xfrm>
            <a:off x="6877375" y="1804275"/>
            <a:ext cx="4920000" cy="4838700"/>
          </a:xfrm>
          <a:prstGeom prst="roundRect">
            <a:avLst>
              <a:gd fmla="val 10901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Propuesta de solución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App móvil ágil: Plataforma enfocada exclusivamente en el monitoreo rápido de asistencia,</a:t>
            </a: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calificaciones y comportamiento estudiantil.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Comunicación automatizada 24/7: Integración de un chatbot mediante WhatsApp Business para resolver consultas básicas de los apoderados en cualquier momento.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Gestión centralizada: Unificación de los datos académicos y disciplinarios para optimizar la administración institucional.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3"/>
          <p:cNvSpPr/>
          <p:nvPr/>
        </p:nvSpPr>
        <p:spPr>
          <a:xfrm>
            <a:off x="5456903" y="3736258"/>
            <a:ext cx="1140542" cy="757084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1C305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wipe dir="l"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11" name="Google Shape;111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4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“EDUNOVA”</a:t>
            </a:r>
            <a:endParaRPr/>
          </a:p>
        </p:txBody>
      </p:sp>
      <p:sp>
        <p:nvSpPr>
          <p:cNvPr id="113" name="Google Shape;113;p4"/>
          <p:cNvSpPr txBox="1"/>
          <p:nvPr/>
        </p:nvSpPr>
        <p:spPr>
          <a:xfrm>
            <a:off x="0" y="1384304"/>
            <a:ext cx="1219199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Objetivo General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4" name="Google Shape;114;p4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15" name="Google Shape;115;p4"/>
          <p:cNvSpPr txBox="1"/>
          <p:nvPr/>
        </p:nvSpPr>
        <p:spPr>
          <a:xfrm>
            <a:off x="1" y="4082446"/>
            <a:ext cx="1219199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Objetivos Específicos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4"/>
          <p:cNvSpPr/>
          <p:nvPr/>
        </p:nvSpPr>
        <p:spPr>
          <a:xfrm>
            <a:off x="614515" y="2040571"/>
            <a:ext cx="10962967" cy="1575221"/>
          </a:xfrm>
          <a:prstGeom prst="roundRect">
            <a:avLst>
              <a:gd fmla="val 16667" name="adj"/>
            </a:avLst>
          </a:prstGeom>
          <a:solidFill>
            <a:srgbClr val="EFEFEF"/>
          </a:solidFill>
          <a:ln cap="flat" cmpd="sng" w="12700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Implementar una solución digital que automatice y agilice los procesos de información y comunicación escolar, mejorando sustancialmente la gestión institucional, académica y la calidad de los datos entregados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4"/>
          <p:cNvSpPr/>
          <p:nvPr/>
        </p:nvSpPr>
        <p:spPr>
          <a:xfrm>
            <a:off x="614525" y="4732398"/>
            <a:ext cx="10962900" cy="1989300"/>
          </a:xfrm>
          <a:prstGeom prst="roundRect">
            <a:avLst>
              <a:gd fmla="val 16667" name="adj"/>
            </a:avLst>
          </a:prstGeom>
          <a:solidFill>
            <a:srgbClr val="EFEFEF"/>
          </a:solidFill>
          <a:ln cap="flat" cmpd="sng" w="12700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Ejecutar reuniones de validación con el cliente cada tres semanas (feedback continuo).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Implementar mejoras derivadas del feedback en un plazo máximo de una semana. 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Desarrollo de la Aplicación:Diseñar el prototipo no funcional (Figma) en 1 semana. 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Desarrollar el frontend (Visual Studio Code) en 3 semanas. 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Construir el backend y su conexión básica al frontend en 2 semanas.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8" name="Google Shape;118;p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54200" y="1420387"/>
            <a:ext cx="574150" cy="574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439275" y="4034904"/>
            <a:ext cx="646341" cy="6463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 dir="l"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24" name="Google Shape;124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5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“EDUNOVA”</a:t>
            </a:r>
            <a:endParaRPr/>
          </a:p>
        </p:txBody>
      </p:sp>
      <p:sp>
        <p:nvSpPr>
          <p:cNvPr id="126" name="Google Shape;126;p5"/>
          <p:cNvSpPr txBox="1"/>
          <p:nvPr/>
        </p:nvSpPr>
        <p:spPr>
          <a:xfrm>
            <a:off x="0" y="1432655"/>
            <a:ext cx="1219199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Alcances y limitaciones del proyecto</a:t>
            </a:r>
            <a:endParaRPr/>
          </a:p>
        </p:txBody>
      </p:sp>
      <p:cxnSp>
        <p:nvCxnSpPr>
          <p:cNvPr id="127" name="Google Shape;127;p5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"/>
            <a:headEnd len="sm" w="sm" type="none"/>
            <a:tailEnd len="sm" w="sm" type="none"/>
          </a:ln>
        </p:spPr>
      </p:cxnSp>
      <p:graphicFrame>
        <p:nvGraphicFramePr>
          <p:cNvPr id="128" name="Google Shape;128;p5"/>
          <p:cNvGraphicFramePr/>
          <p:nvPr/>
        </p:nvGraphicFramePr>
        <p:xfrm>
          <a:off x="952488" y="2254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{BC86FF20-7464-4E74-9AA8-0D5DD40CDB43}</a:tableStyleId>
              </a:tblPr>
              <a:tblGrid>
                <a:gridCol w="5143500"/>
                <a:gridCol w="5143500"/>
              </a:tblGrid>
              <a:tr h="33722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>
                          <a:solidFill>
                            <a:schemeClr val="dk1"/>
                          </a:solidFill>
                        </a:rPr>
                        <a:t>Desarrollo de una aplicación móvil centrada en el seguimiento de asistencia, calificaciones y comportamiento.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>
                          <a:solidFill>
                            <a:schemeClr val="dk1"/>
                          </a:solidFill>
                        </a:rPr>
                        <a:t>Integración de un chatbot automatizado vía API de WhatsApp Business para la primera línea de atención a apoderados.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-CL">
                          <a:solidFill>
                            <a:schemeClr val="dk1"/>
                          </a:solidFill>
                        </a:rPr>
                        <a:t>Implementación de un plan piloto orientado a establecimientos de la Región Metropolitana (primer acercamiento con Colegio San Fernando en Buin)</a:t>
                      </a:r>
                      <a:endParaRPr b="1"/>
                    </a:p>
                  </a:txBody>
                  <a:tcPr marT="91425" marB="91425" marR="91425" marL="91425">
                    <a:solidFill>
                      <a:srgbClr val="E2EF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>
                          <a:solidFill>
                            <a:schemeClr val="dk1"/>
                          </a:solidFill>
                        </a:rPr>
                        <a:t>No es un LMS: La plataforma no alojará material didáctico, cursos ni aulas virtuales.  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>
                          <a:solidFill>
                            <a:schemeClr val="dk1"/>
                          </a:solidFill>
                        </a:rPr>
                        <a:t>Restricciones de Tiempo: El ciclo de desarrollo está acotado estrictamente a las 18 semanas que dura la asignatura.  Dependencia Financiera: 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>
                          <a:solidFill>
                            <a:schemeClr val="dk1"/>
                          </a:solidFill>
                        </a:rPr>
                        <a:t>Existen costos asociados (suscripciones o consumo de la API de WhatsApp) que requieren una pequeña inversión contemplada.  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-CL">
                          <a:solidFill>
                            <a:schemeClr val="dk1"/>
                          </a:solidFill>
                        </a:rPr>
                        <a:t>Negociación del Alcance: Las funcionalidades finales están sujetas a modificaciones según la retroalimentación y viabilidad técnica acordada con el colegio piloto (en conversación). 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rgbClr val="F4CCC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wipe dir="l"/>
  </p:transition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33" name="Google Shape;133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6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“EDUNOVA”</a:t>
            </a:r>
            <a:endParaRPr/>
          </a:p>
        </p:txBody>
      </p:sp>
      <p:sp>
        <p:nvSpPr>
          <p:cNvPr id="135" name="Google Shape;135;p6"/>
          <p:cNvSpPr txBox="1"/>
          <p:nvPr/>
        </p:nvSpPr>
        <p:spPr>
          <a:xfrm>
            <a:off x="0" y="1432655"/>
            <a:ext cx="1219199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Metodología de trabajo para el desarrollo del proyecto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6" name="Google Shape;136;p6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"/>
            <a:headEnd len="sm" w="sm" type="none"/>
            <a:tailEnd len="sm" w="sm" type="none"/>
          </a:ln>
        </p:spPr>
      </p:cxnSp>
      <p:pic>
        <p:nvPicPr>
          <p:cNvPr id="137" name="Google Shape;137;p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0725" y="3975050"/>
            <a:ext cx="5821151" cy="2917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096149" y="3838986"/>
            <a:ext cx="5125727" cy="2798126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6"/>
          <p:cNvSpPr txBox="1"/>
          <p:nvPr/>
        </p:nvSpPr>
        <p:spPr>
          <a:xfrm>
            <a:off x="646150" y="2127950"/>
            <a:ext cx="50103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Integración de </a:t>
            </a:r>
            <a:r>
              <a:rPr b="1"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Metodologías: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Lean:  Maximización del valor entregado al cliente, eliminación de procesos ineficientes y entrega rápida del producto. 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Ágil : Ciclos de trabajo adaptativos que fomentan la mejora continua a través del feedback.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6"/>
          <p:cNvSpPr txBox="1"/>
          <p:nvPr/>
        </p:nvSpPr>
        <p:spPr>
          <a:xfrm>
            <a:off x="6096138" y="2174025"/>
            <a:ext cx="50103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Planificación: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Ejecución controlada mediante una Carta Gantt estructurada en 3 fases a lo largo de 18 semanas.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Validación mediante hitos formales y reuniones de corrección cada tres semanas.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wipe dir="l"/>
  </p:transition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45" name="Google Shape;145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7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“EDUNOVA”</a:t>
            </a:r>
            <a:endParaRPr/>
          </a:p>
        </p:txBody>
      </p:sp>
      <p:sp>
        <p:nvSpPr>
          <p:cNvPr id="147" name="Google Shape;147;p7"/>
          <p:cNvSpPr txBox="1"/>
          <p:nvPr/>
        </p:nvSpPr>
        <p:spPr>
          <a:xfrm>
            <a:off x="1" y="1155656"/>
            <a:ext cx="12192000" cy="8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Cronograma para el desarrollo del proyecto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Ciclo de vida del proyecto establecido en 18 semanas. </a:t>
            </a:r>
            <a:endParaRPr sz="1000">
              <a:solidFill>
                <a:srgbClr val="7570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8" name="Google Shape;148;p7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"/>
            <a:headEnd len="sm" w="sm" type="none"/>
            <a:tailEnd len="sm" w="sm" type="none"/>
          </a:ln>
        </p:spPr>
      </p:cxnSp>
      <p:pic>
        <p:nvPicPr>
          <p:cNvPr id="149" name="Google Shape;149;p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19075" y="2048450"/>
            <a:ext cx="8528266" cy="464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 dir="l"/>
  </p:transition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54" name="Google Shape;154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8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“EDUNOVA”</a:t>
            </a:r>
            <a:endParaRPr/>
          </a:p>
        </p:txBody>
      </p:sp>
      <p:sp>
        <p:nvSpPr>
          <p:cNvPr id="156" name="Google Shape;156;p8"/>
          <p:cNvSpPr txBox="1"/>
          <p:nvPr/>
        </p:nvSpPr>
        <p:spPr>
          <a:xfrm>
            <a:off x="0" y="169280"/>
            <a:ext cx="121920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Arquitectura del software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57" name="Google Shape;157;p8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"/>
            <a:headEnd len="sm" w="sm" type="none"/>
            <a:tailEnd len="sm" w="sm" type="none"/>
          </a:ln>
        </p:spPr>
      </p:cxnSp>
      <p:pic>
        <p:nvPicPr>
          <p:cNvPr id="158" name="Google Shape;158;p8" title="Arquitectura.drawio (1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4700" y="2763575"/>
            <a:ext cx="10974976" cy="4094425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8"/>
          <p:cNvSpPr txBox="1"/>
          <p:nvPr/>
        </p:nvSpPr>
        <p:spPr>
          <a:xfrm>
            <a:off x="1620550" y="927350"/>
            <a:ext cx="8222400" cy="19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Patrón MVVM :</a:t>
            </a:r>
            <a:r>
              <a:rPr lang="es-CL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Desacoplamiento total entre la interfaz de usuario y la lógica de negocio para facilitar la escalabilidad.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Frontend Responsivo:</a:t>
            </a:r>
            <a:r>
              <a:rPr lang="es-CL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Interfaces desarrolladas con React Native.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Backend Centralizado:</a:t>
            </a:r>
            <a:r>
              <a:rPr lang="es-CL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Orquestación de servicios y peticiones HTTP gestionada a través de Node.js y Remix.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Integración Externa:</a:t>
            </a:r>
            <a:r>
              <a:rPr lang="es-CL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Conexión directa del modelo con la Cloud API de Meta (WhatsApp) para la salida automatizada de alertas.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Persistencia de Datos:</a:t>
            </a:r>
            <a:r>
              <a:rPr lang="es-CL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Flujo centralizado hacia una base de datos relacional (PostgreSQL) que garantiza la integridad.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wipe dir="l"/>
  </p:transition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64" name="Google Shape;164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9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“EDUNOVA”</a:t>
            </a:r>
            <a:endParaRPr/>
          </a:p>
        </p:txBody>
      </p:sp>
      <p:sp>
        <p:nvSpPr>
          <p:cNvPr id="166" name="Google Shape;166;p9"/>
          <p:cNvSpPr txBox="1"/>
          <p:nvPr/>
        </p:nvSpPr>
        <p:spPr>
          <a:xfrm>
            <a:off x="-142275" y="184880"/>
            <a:ext cx="12192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Propuesta </a:t>
            </a: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Modelo de datos</a:t>
            </a:r>
            <a:endParaRPr/>
          </a:p>
        </p:txBody>
      </p:sp>
      <p:cxnSp>
        <p:nvCxnSpPr>
          <p:cNvPr id="167" name="Google Shape;167;p9"/>
          <p:cNvCxnSpPr/>
          <p:nvPr/>
        </p:nvCxnSpPr>
        <p:spPr>
          <a:xfrm>
            <a:off x="0" y="831377"/>
            <a:ext cx="4085700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"/>
            <a:headEnd len="sm" w="sm" type="none"/>
            <a:tailEnd len="sm" w="sm" type="none"/>
          </a:ln>
        </p:spPr>
      </p:cxnSp>
      <p:pic>
        <p:nvPicPr>
          <p:cNvPr id="168" name="Google Shape;168;p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97975" y="1478600"/>
            <a:ext cx="1223100" cy="1261325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9"/>
          <p:cNvSpPr txBox="1"/>
          <p:nvPr/>
        </p:nvSpPr>
        <p:spPr>
          <a:xfrm>
            <a:off x="7457550" y="6446850"/>
            <a:ext cx="3451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*Diagrama E-R Simplificado</a:t>
            </a:r>
            <a:endParaRPr sz="600">
              <a:solidFill>
                <a:schemeClr val="dk1"/>
              </a:solidFill>
            </a:endParaRPr>
          </a:p>
        </p:txBody>
      </p:sp>
      <p:sp>
        <p:nvSpPr>
          <p:cNvPr id="170" name="Google Shape;170;p9"/>
          <p:cNvSpPr txBox="1"/>
          <p:nvPr/>
        </p:nvSpPr>
        <p:spPr>
          <a:xfrm>
            <a:off x="9272075" y="3050250"/>
            <a:ext cx="30000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>
                <a:latin typeface="Calibri"/>
                <a:ea typeface="Calibri"/>
                <a:cs typeface="Calibri"/>
                <a:sym typeface="Calibri"/>
              </a:rPr>
              <a:t>Estructura optimizada para la futura extracción de indicadores clave (KPIs) y reportabilidad directiva. 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9"/>
          <p:cNvSpPr txBox="1"/>
          <p:nvPr/>
        </p:nvSpPr>
        <p:spPr>
          <a:xfrm>
            <a:off x="9272075" y="1478600"/>
            <a:ext cx="30000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PostgreSQL:</a:t>
            </a:r>
            <a:r>
              <a:rPr lang="es-CL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Garantiza que no haya duplicidad de datos académicos e institucionales (normalización). 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2" name="Google Shape;172;p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325" y="1385475"/>
            <a:ext cx="7836652" cy="5472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817950" y="2900975"/>
            <a:ext cx="1383150" cy="1383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 dir="l"/>
  </p:transition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78" name="Google Shape;178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10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“EDUNOVA”</a:t>
            </a:r>
            <a:endParaRPr/>
          </a:p>
        </p:txBody>
      </p:sp>
      <p:sp>
        <p:nvSpPr>
          <p:cNvPr id="180" name="Google Shape;180;p10"/>
          <p:cNvSpPr txBox="1"/>
          <p:nvPr/>
        </p:nvSpPr>
        <p:spPr>
          <a:xfrm>
            <a:off x="0" y="1212780"/>
            <a:ext cx="12192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Propuesta de </a:t>
            </a: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Tecnologías a utilizar</a:t>
            </a:r>
            <a:endParaRPr/>
          </a:p>
        </p:txBody>
      </p:sp>
      <p:cxnSp>
        <p:nvCxnSpPr>
          <p:cNvPr id="181" name="Google Shape;181;p10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"/>
            <a:headEnd len="sm" w="sm" type="none"/>
            <a:tailEnd len="sm" w="sm" type="none"/>
          </a:ln>
        </p:spPr>
      </p:cxnSp>
      <p:graphicFrame>
        <p:nvGraphicFramePr>
          <p:cNvPr id="182" name="Google Shape;182;p10"/>
          <p:cNvGraphicFramePr/>
          <p:nvPr/>
        </p:nvGraphicFramePr>
        <p:xfrm>
          <a:off x="952500" y="2079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{BC86FF20-7464-4E74-9AA8-0D5DD40CDB43}</a:tableStyleId>
              </a:tblPr>
              <a:tblGrid>
                <a:gridCol w="5143500"/>
                <a:gridCol w="5143500"/>
              </a:tblGrid>
              <a:tr h="2097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8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Frontend (Interfaces de Usuario)</a:t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-CL" sz="1100">
                          <a:solidFill>
                            <a:schemeClr val="dk1"/>
                          </a:solidFill>
                        </a:rPr>
                        <a:t>React Native:</a:t>
                      </a:r>
                      <a:r>
                        <a:rPr lang="es-CL" sz="1100">
                          <a:solidFill>
                            <a:schemeClr val="dk1"/>
                          </a:solidFill>
                        </a:rPr>
                        <a:t> Aplicación móvil (APK)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solidFill>
                      <a:srgbClr val="E2EF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8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Backend (</a:t>
                      </a:r>
                      <a:r>
                        <a:rPr lang="es-CL" sz="18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Servidor</a:t>
                      </a:r>
                      <a:r>
                        <a:rPr lang="es-CL" sz="18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) </a:t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100">
                          <a:solidFill>
                            <a:schemeClr val="dk1"/>
                          </a:solidFill>
                        </a:rPr>
                        <a:t>Node.js:</a:t>
                      </a:r>
                      <a:r>
                        <a:rPr lang="es-CL" sz="1100">
                          <a:solidFill>
                            <a:schemeClr val="dk1"/>
                          </a:solidFill>
                        </a:rPr>
                        <a:t> Ejecución en el servidor (JS).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2097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8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Base de Datos e Integración</a:t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100">
                          <a:solidFill>
                            <a:schemeClr val="dk1"/>
                          </a:solidFill>
                        </a:rPr>
                        <a:t>PostgreSQL:</a:t>
                      </a:r>
                      <a:r>
                        <a:rPr lang="es-CL" sz="1100">
                          <a:solidFill>
                            <a:schemeClr val="dk1"/>
                          </a:solidFill>
                        </a:rPr>
                        <a:t> Base de datos relacional (SQL).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100">
                          <a:solidFill>
                            <a:schemeClr val="dk1"/>
                          </a:solidFill>
                        </a:rPr>
                        <a:t>Cloud API Meta:</a:t>
                      </a:r>
                      <a:r>
                        <a:rPr lang="es-CL" sz="1100">
                          <a:solidFill>
                            <a:schemeClr val="dk1"/>
                          </a:solidFill>
                        </a:rPr>
                        <a:t> Chatbot de mensajería automatizada.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CL" sz="18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CL" sz="18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Gestión y Arquitectura</a:t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-CL" sz="1100">
                          <a:solidFill>
                            <a:schemeClr val="dk1"/>
                          </a:solidFill>
                        </a:rPr>
                        <a:t>GitHub:</a:t>
                      </a:r>
                      <a:r>
                        <a:rPr lang="es-CL" sz="1100">
                          <a:solidFill>
                            <a:schemeClr val="dk1"/>
                          </a:solidFill>
                        </a:rPr>
                        <a:t> Control de versiones.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-CL" sz="1100">
                          <a:solidFill>
                            <a:schemeClr val="dk1"/>
                          </a:solidFill>
                        </a:rPr>
                        <a:t>Google Workspace:</a:t>
                      </a:r>
                      <a:r>
                        <a:rPr lang="es-CL" sz="1100">
                          <a:solidFill>
                            <a:schemeClr val="dk1"/>
                          </a:solidFill>
                        </a:rPr>
                        <a:t> Documentación colaborativa.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100">
                          <a:solidFill>
                            <a:schemeClr val="dk1"/>
                          </a:solidFill>
                        </a:rPr>
                        <a:t>Patrón MVVM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E2EFD9"/>
                    </a:solidFill>
                  </a:tcPr>
                </a:tc>
              </a:tr>
            </a:tbl>
          </a:graphicData>
        </a:graphic>
      </p:graphicFrame>
      <p:pic>
        <p:nvPicPr>
          <p:cNvPr id="183" name="Google Shape;183;p10"/>
          <p:cNvPicPr preferRelativeResize="0"/>
          <p:nvPr/>
        </p:nvPicPr>
        <p:blipFill rotWithShape="1">
          <a:blip r:embed="rId4">
            <a:alphaModFix/>
          </a:blip>
          <a:srcRect b="0" l="38296" r="4316" t="0"/>
          <a:stretch/>
        </p:blipFill>
        <p:spPr>
          <a:xfrm>
            <a:off x="2651125" y="2662500"/>
            <a:ext cx="1802800" cy="1390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1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317872" y="2758100"/>
            <a:ext cx="1071800" cy="1209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1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903200" y="4856589"/>
            <a:ext cx="1156675" cy="1285186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1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263375" y="4923174"/>
            <a:ext cx="2304102" cy="1152038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1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9389675" y="4866550"/>
            <a:ext cx="482575" cy="482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10"/>
          <p:cNvPicPr preferRelativeResize="0"/>
          <p:nvPr/>
        </p:nvPicPr>
        <p:blipFill rotWithShape="1">
          <a:blip r:embed="rId9">
            <a:alphaModFix/>
          </a:blip>
          <a:srcRect b="34175" l="0" r="0" t="28012"/>
          <a:stretch/>
        </p:blipFill>
        <p:spPr>
          <a:xfrm>
            <a:off x="7536525" y="4979800"/>
            <a:ext cx="1736390" cy="3693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10"/>
          <p:cNvPicPr preferRelativeResize="0"/>
          <p:nvPr/>
        </p:nvPicPr>
        <p:blipFill rotWithShape="1">
          <a:blip r:embed="rId10">
            <a:alphaModFix/>
          </a:blip>
          <a:srcRect b="22352" l="2150" r="2702" t="19472"/>
          <a:stretch/>
        </p:blipFill>
        <p:spPr>
          <a:xfrm>
            <a:off x="6223200" y="5426525"/>
            <a:ext cx="4686374" cy="715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 dir="l"/>
  </p:transition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94" name="Google Shape;194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11"/>
          <p:cNvSpPr txBox="1"/>
          <p:nvPr/>
        </p:nvSpPr>
        <p:spPr>
          <a:xfrm>
            <a:off x="1" y="2707792"/>
            <a:ext cx="12192000" cy="11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DEMOSTRACIÓN PROTOTIPO INICIAL DEL PROYECTO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4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Prototipo Básico-Inicial de EduNova</a:t>
            </a:r>
            <a:endParaRPr sz="2400">
              <a:solidFill>
                <a:srgbClr val="7570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wipe dir="l"/>
  </p:transition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200" name="Google Shape;200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12"/>
          <p:cNvSpPr txBox="1"/>
          <p:nvPr/>
        </p:nvSpPr>
        <p:spPr>
          <a:xfrm>
            <a:off x="1" y="1459095"/>
            <a:ext cx="12191999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Resultados obtenidos</a:t>
            </a:r>
            <a:endParaRPr/>
          </a:p>
        </p:txBody>
      </p:sp>
    </p:spTree>
  </p:cSld>
  <p:clrMapOvr>
    <a:masterClrMapping/>
  </p:clrMapOvr>
  <p:transition spd="slow">
    <p:wipe dir="l"/>
  </p:transition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206" name="Google Shape;206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13"/>
          <p:cNvSpPr txBox="1"/>
          <p:nvPr/>
        </p:nvSpPr>
        <p:spPr>
          <a:xfrm>
            <a:off x="1" y="1360773"/>
            <a:ext cx="12191999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Obstáculos presentados durante el desarrollo</a:t>
            </a:r>
            <a:endParaRPr/>
          </a:p>
        </p:txBody>
      </p:sp>
    </p:spTree>
  </p:cSld>
  <p:clrMapOvr>
    <a:masterClrMapping/>
  </p:clrMapOvr>
  <p:transition spd="slow">
    <p:wipe dir="l"/>
  </p:transition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212" name="Google Shape;21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14"/>
          <p:cNvSpPr txBox="1"/>
          <p:nvPr/>
        </p:nvSpPr>
        <p:spPr>
          <a:xfrm>
            <a:off x="0" y="3044279"/>
            <a:ext cx="12191999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PREGUNTAS DE LA COMISIÓN</a:t>
            </a:r>
            <a:endParaRPr/>
          </a:p>
        </p:txBody>
      </p:sp>
    </p:spTree>
  </p:cSld>
  <p:clrMapOvr>
    <a:masterClrMapping/>
  </p:clrMapOvr>
  <p:transition spd="slow">
    <p:wipe dir="l"/>
  </p:transition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2023-10-28T21:12:11Z</dcterms:created>
  <dc:creator>Gerardo Galan Cruz</dc:creator>
</cp:coreProperties>
</file>